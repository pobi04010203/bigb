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8580" cy="6766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86384" y="29260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75B6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56032"/>
            <a:ext cx="1047262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9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AI CCTV 를 어디에 달아야 하는지, 정해진 기준이 없다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6459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5358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75B6"/>
                </a:solidFill>
                <a:latin typeface="Pretendard"/>
                <a:ea typeface="Pretendard"/>
                <a:cs typeface="Pretendard"/>
              </a:rPr>
              <a:t>지금 있는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335024"/>
            <a:ext cx="535838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75B6"/>
                </a:solidFill>
                <a:latin typeface="Pretendard"/>
                <a:ea typeface="Pretendard"/>
                <a:cs typeface="Pretendard"/>
              </a:rPr>
              <a:t>국제표준은 있지만 사람 눈 기준이다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92224"/>
            <a:ext cx="5358384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74320" indent="-274320">
              <a:lnSpc>
                <a:spcPct val="126000"/>
              </a:lnSpc>
              <a:spcAft>
                <a:spcPts val="1500"/>
              </a:spcAft>
            </a:pP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■  </a:t>
            </a: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성능 기준은 있다 — </a:t>
            </a:r>
            <a:r>
              <a:rPr sz="16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「검출 정확도 90% 이상」. 다만 미리 모아둔 영상으로 잰 값이라 현장 조건은 빠져 있다.</a:t>
            </a:r>
          </a:p>
          <a:p>
            <a:pPr algn="l" marL="274320" indent="-274320">
              <a:lnSpc>
                <a:spcPct val="126000"/>
              </a:lnSpc>
              <a:spcAft>
                <a:spcPts val="1500"/>
              </a:spcAft>
            </a:pP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■  </a:t>
            </a: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설치 기준은 없다 — </a:t>
            </a:r>
            <a:r>
              <a:rPr sz="16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「설치 위치와 촬영 범위를 적정하게 유지」가 조항의 전부다. 무엇이 적정인지 숫자가 없다.</a:t>
            </a:r>
          </a:p>
          <a:p>
            <a:pPr algn="l" marL="274320" indent="-274320">
              <a:lnSpc>
                <a:spcPct val="126000"/>
              </a:lnSpc>
              <a:spcAft>
                <a:spcPts val="1500"/>
              </a:spcAft>
            </a:pP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■  </a:t>
            </a: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이미 지적됐다 — </a:t>
            </a:r>
            <a:r>
              <a:rPr sz="16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LH 사용자 평가(2025.12)는 「운용 방식 조정」을 처방했다. 무엇을 조정할지는 적혀 있지 않다.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792224"/>
            <a:ext cx="5358384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74320" indent="-274320">
              <a:lnSpc>
                <a:spcPct val="126000"/>
              </a:lnSpc>
              <a:spcAft>
                <a:spcPts val="1500"/>
              </a:spcAft>
            </a:pP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■  </a:t>
            </a: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픽셀 기준이 있다 — </a:t>
            </a:r>
            <a:r>
              <a:rPr sz="16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국제표준 IEC 62676-4(DORI). 1 m 를 몇 픽셀로 담아야 하는지 4단계(25·62.5·125·250 픽셀)로 정한다.</a:t>
            </a:r>
          </a:p>
          <a:p>
            <a:pPr algn="l" marL="274320" indent="-274320">
              <a:lnSpc>
                <a:spcPct val="126000"/>
              </a:lnSpc>
              <a:spcAft>
                <a:spcPts val="1500"/>
              </a:spcAft>
            </a:pP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■  </a:t>
            </a: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사람에게 물어 만들었다 — </a:t>
            </a:r>
            <a:r>
              <a:rPr sz="16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1958년, 사람이 표적을 절반 맞히는 지점을 재서 만든 값이다. AI 가 어디서 못 보는지는 잰 적이 없다.</a:t>
            </a:r>
          </a:p>
          <a:p>
            <a:pPr algn="l" marL="274320" indent="-274320">
              <a:lnSpc>
                <a:spcPct val="126000"/>
              </a:lnSpc>
              <a:spcAft>
                <a:spcPts val="1500"/>
              </a:spcAft>
            </a:pP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■  </a:t>
            </a:r>
            <a:r>
              <a:rPr sz="16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거리만 본다 — </a:t>
            </a:r>
            <a:r>
              <a:rPr sz="16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내려다보는 각도, 가려진 정도에는 기준이 아예 없다. 합격·불합격 판정이라 카메라를 겹쳐 다는 이득도 셀 수 없다.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138928"/>
            <a:ext cx="11057839" cy="1115568"/>
          </a:xfrm>
          <a:prstGeom prst="roundRect">
            <a:avLst/>
          </a:prstGeom>
          <a:solidFill>
            <a:srgbClr val="F2F7FC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6112" y="5257800"/>
            <a:ext cx="10399471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연구 질문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①  </a:t>
            </a:r>
            <a:r>
              <a:rPr sz="1600" b="0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카메라 설치 조건 ― 거리, 내려다보는 각도, 가려진 정도 ― 이 AI 의 안전모 미착용 검출률을 얼마나 바꾸는가?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6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②  </a:t>
            </a:r>
            <a:r>
              <a:rPr sz="1600" b="0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그 관계를 알고 배치를 다시 짜면, 카메라를 늘리지 않고 무엇이 나아지는가?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45936"/>
            <a:ext cx="110578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LH「스마트 안전기술 도입·운용 가이드라인」; LH 스마트건설기술 사용자 평가(2025.12); IEC 62676-4:2014/2025; Johnson (1958)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8580" cy="6766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86384" y="29260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75B6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56032"/>
            <a:ext cx="1047262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9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가장 큰 원인은 거리가 아니라 「가려짐」이었다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6459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i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207007"/>
            <a:ext cx="9326880" cy="3010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345062"/>
            <a:ext cx="3466490" cy="969264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4436502"/>
            <a:ext cx="302757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카메라와의 거리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692534"/>
            <a:ext cx="3027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60 m 넘으면 떨어진다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012574"/>
            <a:ext cx="30275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40 m 까지는 94% 를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4345062"/>
            <a:ext cx="3466490" cy="969264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82058" y="4436502"/>
            <a:ext cx="302757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내려다보는 각도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4692534"/>
            <a:ext cx="3027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61° 에서 무너진다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5012574"/>
            <a:ext cx="30275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45° 까지는 거의 영향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4345062"/>
            <a:ext cx="3466490" cy="969264"/>
          </a:xfrm>
          <a:prstGeom prst="roundRect">
            <a:avLst/>
          </a:prstGeom>
          <a:solidFill>
            <a:srgbClr val="FDF3F3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77732" y="4436502"/>
            <a:ext cx="302757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가려진 정도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7732" y="4692534"/>
            <a:ext cx="3027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15% 만 가려도 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7732" y="5012574"/>
            <a:ext cx="302757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셋 중 가장 치명적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42342"/>
            <a:ext cx="11057839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841248" indent="-841248">
              <a:lnSpc>
                <a:spcPct val="134000"/>
              </a:lnSpc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어떻게 쟀나 — </a:t>
            </a:r>
            <a:r>
              <a:rPr sz="13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안전모 사진 500장을 흐리게(거리) · 기울여(각도) · 세로줄로 가려(가려짐) 총 288가지 상태로 변형하고, 상태마다 AI 가 안전모 미착용을 몇 % 찾아내는지 셌다. 세 조건의 영향을 각각 구해 곱하는 식으로 정리했고, 288개 실측값을 89.8% 설명한다. 재보지 않은 범위는 추측하지 않고 0 으로 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45936"/>
            <a:ext cx="110578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세로축은 조건을 걸지 않았을 때(93.7%) 대비 비율 · 점은 실측값, 선은 정리한 식 · 검출기는 안전모 사진으로 추가 학습시킨 YOLOv8n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8580" cy="6766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86384" y="29260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75B6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56032"/>
            <a:ext cx="1047262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9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카메라 8대 그대로, 2대만 옮기니 사각지대가 절반이 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6459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ig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243584"/>
            <a:ext cx="6720840" cy="3136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280160"/>
            <a:ext cx="421812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75B6"/>
                </a:solidFill>
                <a:latin typeface="Pretendard"/>
                <a:ea typeface="Pretendard"/>
                <a:cs typeface="Pretendard"/>
              </a:rPr>
              <a:t>계산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737360"/>
            <a:ext cx="4218127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74320" indent="-274320">
              <a:lnSpc>
                <a:spcPct val="126000"/>
              </a:lnSpc>
              <a:spcAft>
                <a:spcPts val="1100"/>
              </a:spcAft>
            </a:pP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현장을 칸으로 나눈다 </a:t>
            </a:r>
            <a:r>
              <a:rPr sz="14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— 100×60 m 를 2 m 격자 1,500칸으로. 칸마다 위험도 1~5점.</a:t>
            </a:r>
          </a:p>
          <a:p>
            <a:pPr algn="l" marL="274320" indent="-274320">
              <a:lnSpc>
                <a:spcPct val="126000"/>
              </a:lnSpc>
              <a:spcAft>
                <a:spcPts val="1100"/>
              </a:spcAft>
            </a:pP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칸마다 조건을 잰다 </a:t>
            </a:r>
            <a:r>
              <a:rPr sz="14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— 칸에 사람 크기 막대를 세우고 카메라 쪽으로 빛을 쏴 거리·각도·가려진 정도를 구한다.</a:t>
            </a:r>
          </a:p>
          <a:p>
            <a:pPr algn="l" marL="274320" indent="-274320">
              <a:lnSpc>
                <a:spcPct val="126000"/>
              </a:lnSpc>
              <a:spcAft>
                <a:spcPts val="1100"/>
              </a:spcAft>
            </a:pP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검출확률로 바꾼다 </a:t>
            </a:r>
            <a:r>
              <a:rPr sz="14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— 2번에서 만든 식에 그 세 숫자를 넣는다.</a:t>
            </a:r>
          </a:p>
          <a:p>
            <a:pPr algn="l" marL="274320" indent="-274320">
              <a:lnSpc>
                <a:spcPct val="126000"/>
              </a:lnSpc>
              <a:spcAft>
                <a:spcPts val="1100"/>
              </a:spcAft>
            </a:pP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카메라를 합친다 </a:t>
            </a:r>
            <a:r>
              <a:rPr sz="14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— 한 대가 놓쳐도 다른 대가 잡는다. 겹칠수록 확률이 오른다.</a:t>
            </a:r>
          </a:p>
          <a:p>
            <a:pPr algn="l" marL="274320" indent="-274320">
              <a:lnSpc>
                <a:spcPct val="126000"/>
              </a:lnSpc>
              <a:spcAft>
                <a:spcPts val="1100"/>
              </a:spcAft>
            </a:pP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400" b="1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8대를 고른다 </a:t>
            </a:r>
            <a:r>
              <a:rPr sz="1400" b="0">
                <a:solidFill>
                  <a:srgbClr val="2D2D2D"/>
                </a:solidFill>
                <a:latin typeface="Pretendard"/>
                <a:ea typeface="Pretendard"/>
                <a:cs typeface="Pretendard"/>
              </a:rPr>
              <a:t>— 제일 좋은 자리를 한 대씩 8번. 기존 기준과 제안 기준으로 각각 돌려 같은 자로 비교한다.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25696"/>
            <a:ext cx="6656832" cy="1847088"/>
          </a:xfrm>
          <a:prstGeom prst="roundRect">
            <a:avLst/>
          </a:prstGeom>
          <a:solidFill>
            <a:srgbClr val="F2F7FC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4562856"/>
            <a:ext cx="6108192" cy="1609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공정하게 비교했나 — </a:t>
            </a:r>
            <a:r>
              <a:rPr sz="1200" b="0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기존 기준에도 국제표준의 최소 픽셀 조건을 걸어 실무 수준으로 올리고, 4단계 중 기존 방식에 가장 유리한 단계를 골랐다.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수치를 믿을 수 있나 — </a:t>
            </a:r>
            <a:r>
              <a:rPr sz="1200" b="0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근거 없는 값 2개를 바꿔가며 다시 계산하면 검출률 자체는 48.6~84.1% 로 흔들린다. 그래도 두 방식의 차이는 항상 +2.49~+3.56%p 다.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한계 — </a:t>
            </a:r>
            <a:r>
              <a:rPr sz="1200" b="0">
                <a:solidFill>
                  <a:srgbClr val="1F4E79"/>
                </a:solidFill>
                <a:latin typeface="Pretendard"/>
                <a:ea typeface="Pretendard"/>
                <a:cs typeface="Pretendard"/>
              </a:rPr>
              <a:t>사진을 흐리게·기울여 만든 것이라 실제 원거리 촬영과 다르고, 가상 현장이다. 그래서 절대 수치가 아니라 관계만 주장한다.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45936"/>
            <a:ext cx="11057839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E7E7E"/>
                </a:solidFill>
                <a:latin typeface="Pretendard"/>
                <a:ea typeface="Pretendard"/>
                <a:cs typeface="Pretendard"/>
              </a:rPr>
              <a:t>위험가중 검출률 = 위험한 칸에 가중치를 주고 평균한 검출확률 · 사각지대 = 검출확률이 50% 미만인 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