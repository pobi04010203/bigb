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36047" y="6345936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KoPubBatang Light"/>
                <a:ea typeface="KoPubBatang Light"/>
                <a:cs typeface="KoPubBatang Light"/>
              </a:rPr>
              <a:t>1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66928"/>
            <a:ext cx="9923983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건설현장 AI CCTV를 어디에 달아야 하는지,
정해 놓은 기준이 없다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975104"/>
            <a:ext cx="10746943" cy="27940"/>
          </a:xfrm>
          <a:prstGeom prst="rect">
            <a:avLst/>
          </a:prstGeom>
          <a:solidFill>
            <a:srgbClr val="1C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6384" y="2025396"/>
            <a:ext cx="10746943" cy="1016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73300"/>
            <a:ext cx="9832543" cy="6411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6000"/>
              </a:lnSpc>
              <a:spcAft>
                <a:spcPts val="0"/>
              </a:spcAft>
            </a:pPr>
            <a:r>
              <a:rPr sz="15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LH 건설현장에는 AI CCTV가 달려 있다. 카메라가 찍은 화면을 인공지능이 보고, 안전모를 안 쓴 사람을 찾아 관리자에게 알린다. 문제는 그 카메라를 어디에 다느냐에 따라 잘 찾기도 하고 못 찾기도 한다는 것이다.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115630"/>
            <a:ext cx="5230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지금 기준이 정한 것과 안 정한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115630"/>
            <a:ext cx="494964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이 제안이 새로 하는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481390"/>
            <a:ext cx="5230368" cy="8663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성능은 인증서로 끝난다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인증 시험은 미리 모아둔 영상에서 90% 이상 찾아내면 통과다. 정해진 영상으로만 재니까 카메라를 어디에 달아도 같은 점수가 나온다.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457420"/>
            <a:ext cx="5230368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548860"/>
            <a:ext cx="5230368" cy="595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장비 사양은 있다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AI CCTV 는 200만 화소 이상, 방수·방진 IP56 이상을 권장한다.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5254411"/>
            <a:ext cx="5230368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5345851"/>
            <a:ext cx="5230368" cy="595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설치 조건은 없다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국토교통부·국토안전관리원 가이드라인과 인증 기준 어디에도 카메라를 얼마나 멀리, 어떤 각도로 달라는 숫자가 없다.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81390"/>
            <a:ext cx="4949647" cy="8663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이미 있는 것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확률로 카메라 자리를 정하는 방법은 이미 있다. 멀수록·비스듬할수록 못 찾는다는 계산, 여러 대를 합치는 계산까지 모두 기존 연구의 것이다.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4457420"/>
            <a:ext cx="4949647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548860"/>
            <a:ext cx="4949647" cy="8663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우리가 채우는 것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그 확률을 재보지 않고 식으로 가정했다는 점이다. 직접 찍어서 재고, 가려짐을 0~100% 사이 값으로 다루고, 심사할 때 계산서를 같이 보게 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5524891"/>
            <a:ext cx="4949647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5616331"/>
            <a:ext cx="4949647" cy="595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아직 확인 중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앞선 연구 3건을 확인 중이다. 1건은 '직접 잰다'를 새롭지 않게 만들 수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345936"/>
            <a:ext cx="94667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Pretendard"/>
                <a:ea typeface="Pretendard"/>
                <a:cs typeface="Pretendard"/>
              </a:rPr>
              <a:t>성능 기준은 KISA 지능형 CCTV 성능 시험인증 · 장비 사양은 국토교통부·국토안전관리원 「스마트 안전장비 가이드라인」(2026.5 개정) · 어느 문서에 무엇이 적혀 있는지는 원문 다시 확인 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36047" y="6345936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KoPubBatang Light"/>
                <a:ea typeface="KoPubBatang Light"/>
                <a:cs typeface="KoPubBatang Light"/>
              </a:rPr>
              <a:t>2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66928"/>
            <a:ext cx="107469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지금 기준이 정한 것이 셋 중 영향이 가장 작았다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078992"/>
            <a:ext cx="9649663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셋은 단위가 달라 그대로 견줄 수 없다. 검출률이 90%까지 떨어지는 지점으로 맞춰 비교했다.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1444752"/>
            <a:ext cx="10746943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10424160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4562856"/>
            <a:ext cx="330799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카메라와의 거리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18888"/>
            <a:ext cx="330799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55</a:t>
            </a:r>
            <a:r>
              <a:rPr sz="1700" b="0">
                <a:solidFill>
                  <a:srgbClr val="1C1A17"/>
                </a:solidFill>
                <a:latin typeface="KoPubBatang Medium"/>
                <a:ea typeface="KoPubBatang Medium"/>
                <a:cs typeface="KoPubBatang Medium"/>
              </a:rPr>
              <a:t>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330952"/>
            <a:ext cx="330799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40 m에서는 아직 94%다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6402" y="4599432"/>
            <a:ext cx="11430" cy="932688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4562856"/>
            <a:ext cx="330799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내려다보는 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4818888"/>
            <a:ext cx="330799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52</a:t>
            </a:r>
            <a:r>
              <a:rPr sz="1700" b="0">
                <a:solidFill>
                  <a:srgbClr val="1C1A17"/>
                </a:solidFill>
                <a:latin typeface="KoPubBatang Medium"/>
                <a:ea typeface="KoPubBatang Medium"/>
                <a:cs typeface="KoPubBatang Medium"/>
              </a:rPr>
              <a:t>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5330952"/>
            <a:ext cx="330799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45°에서는 98%로 거의 그대로다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5876" y="4599432"/>
            <a:ext cx="11430" cy="932688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5332" y="4562856"/>
            <a:ext cx="330799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가려진 정도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5332" y="4818888"/>
            <a:ext cx="330799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A33B29"/>
                </a:solidFill>
                <a:latin typeface="KoPubBatang Bold"/>
                <a:ea typeface="KoPubBatang Bold"/>
                <a:cs typeface="KoPubBatang Bold"/>
              </a:rPr>
              <a:t>2.5</a:t>
            </a:r>
            <a:r>
              <a:rPr sz="1700" b="0">
                <a:solidFill>
                  <a:srgbClr val="A33B29"/>
                </a:solidFill>
                <a:latin typeface="KoPubBatang Medium"/>
                <a:ea typeface="KoPubBatang Medium"/>
                <a:cs typeface="KoPubBatang Medium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5332" y="5330952"/>
            <a:ext cx="330799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실제로 재본 15%에서는 이미 72%다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" y="5696712"/>
            <a:ext cx="10746943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5833872"/>
            <a:ext cx="10472623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8000"/>
              </a:lnSpc>
              <a:spcAft>
                <a:spcPts val="0"/>
              </a:spcAft>
            </a:pPr>
            <a:r>
              <a:rPr sz="1200" b="1">
                <a:solidFill>
                  <a:srgbClr val="1C1A17"/>
                </a:solidFill>
                <a:latin typeface="Pretendard"/>
                <a:ea typeface="Pretendard"/>
                <a:cs typeface="Pretendard"/>
              </a:rPr>
              <a:t>어느 게 나쁘냐가 아니라 얼마나 나쁘냐  </a:t>
            </a:r>
            <a:r>
              <a:rPr sz="120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가려지면 잘 못 찾는다는 건 다 아는 이야기다. 여기서 한 일은 그게 얼마나 나쁜지를 288가지 조건에서 직접 재어, 배치 계산에 넣을 수 있는 식으로 만든 것이다. 기존 연구는 가림을 막혔다·안 막혔다 둘 중 하나로만 다룬다. 위 세 값은 식으로 계산한 지점이고, 실제로 재본 가림은 15%부터다.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345936"/>
            <a:ext cx="94667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Pretendard"/>
                <a:ea typeface="Pretendard"/>
                <a:cs typeface="Pretendard"/>
              </a:rPr>
              <a:t>안전모 사진 500장 · 세로축은 아무 조건도 안 걸었을 때(93.7%)를 1로 둔 비율 · 세 조건을 곱해 쓰는 식, 설명력 0.898 · 검출기는 안전모 사진으로 추가 학습시킨 YOLOv8n · 거리는 4K 해상도, 화각 90° 기준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36047" y="6345936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KoPubBatang Light"/>
                <a:ea typeface="KoPubBatang Light"/>
                <a:cs typeface="KoPubBatang Light"/>
              </a:rPr>
              <a:t>3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66928"/>
            <a:ext cx="964966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3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가정한 값으로 설계해도 평균은 비슷하다.
차이는 사각지대에서 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847088"/>
            <a:ext cx="10746943" cy="27940"/>
          </a:xfrm>
          <a:prstGeom prst="rect">
            <a:avLst/>
          </a:prstGeom>
          <a:solidFill>
            <a:srgbClr val="1C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6384" y="1897380"/>
            <a:ext cx="10746943" cy="1016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9344" y="2108708"/>
            <a:ext cx="9101023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900" b="0">
                <a:solidFill>
                  <a:srgbClr val="34312B"/>
                </a:solidFill>
                <a:latin typeface="KoPubBatang Light"/>
                <a:ea typeface="KoPubBatang Light"/>
                <a:cs typeface="KoPubBatang Light"/>
              </a:rPr>
              <a:t>카메라 8대와 후보 자리는 그대로 두고 배치만 세 번 다르게 짰다. 셋 다 직접 잰 값으로 다시 채점했다. 사각지대는 </a:t>
            </a:r>
            <a:r>
              <a:rPr sz="1900" b="0">
                <a:solidFill>
                  <a:srgbClr val="A33B29"/>
                </a:solidFill>
                <a:latin typeface="KoPubBatang Bold"/>
                <a:ea typeface="KoPubBatang Bold"/>
                <a:cs typeface="KoPubBatang Bold"/>
              </a:rPr>
              <a:t>1,256칸 중 334 → 256 → 168칸</a:t>
            </a:r>
            <a:r>
              <a:rPr sz="1900" b="0">
                <a:solidFill>
                  <a:srgbClr val="34312B"/>
                </a:solidFill>
                <a:latin typeface="KoPubBatang Light"/>
                <a:ea typeface="KoPubBatang Light"/>
                <a:cs typeface="KoPubBatang Light"/>
              </a:rPr>
              <a:t>으로 갈렸다.</a:t>
            </a:r>
          </a:p>
        </p:txBody>
      </p:sp>
      <p:pic>
        <p:nvPicPr>
          <p:cNvPr id="8" name="Picture 7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807" y="3023108"/>
            <a:ext cx="9784080" cy="20168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6384" y="5186305"/>
            <a:ext cx="10746943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32609"/>
            <a:ext cx="5007711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8000"/>
              </a:lnSpc>
              <a:spcAft>
                <a:spcPts val="0"/>
              </a:spcAft>
            </a:pPr>
            <a:r>
              <a:rPr sz="1200" b="1">
                <a:solidFill>
                  <a:srgbClr val="1C1A17"/>
                </a:solidFill>
                <a:latin typeface="Pretendard"/>
                <a:ea typeface="Pretendard"/>
                <a:cs typeface="Pretendard"/>
              </a:rPr>
              <a:t>왜 갈리나  </a:t>
            </a:r>
            <a:r>
              <a:rPr sz="120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가정한 값은 가림을 막혔다·안 막혔다 둘 중 하나로 본다. 조금 가려진 곳을 괜찮다고 넘기는데, 그런 곳이 곧 사각지대다. 평균이 아니라 나쁜 쪽에서 갈린다(0.17%p 대 88칸).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5615" y="5332609"/>
            <a:ext cx="5007711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8000"/>
              </a:lnSpc>
              <a:spcAft>
                <a:spcPts val="0"/>
              </a:spcAft>
            </a:pPr>
            <a:r>
              <a:rPr sz="1200" b="1">
                <a:solidFill>
                  <a:srgbClr val="1C1A17"/>
                </a:solidFill>
                <a:latin typeface="Pretendard"/>
                <a:ea typeface="Pretendard"/>
                <a:cs typeface="Pretendard"/>
              </a:rPr>
              <a:t>기준을 바꿔도  </a:t>
            </a:r>
            <a:r>
              <a:rPr sz="120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사각지대로 치는 선을 0.4·0.5·0.6으로 바꿔도 제안 쪽이 늘 적다. 줄어드는 양은 각각 106·166·64칸이며, 0.6에서는 차이가 좁아진다. 가상 현장이라 숫자 자체가 아니라 세 배치의 순서를 주장한다.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345936"/>
            <a:ext cx="94667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Pretendard"/>
                <a:ea typeface="Pretendard"/>
                <a:cs typeface="Pretendard"/>
              </a:rPr>
              <a:t>현장 100×60 m · 카메라 자리 후보 24곳에서 8대 · 비교 대상인 기존 방식은 국제표준 네 등급을 다 돌려보고 기존 방식에 가장 유리한 등급으로 정했다 · 가정한 값은 국제표준의 두 지점(125·250 PPM)으로 고정 · 한 대씩 고르는 방식이지만 최적해의 63% 이상이 보장된다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